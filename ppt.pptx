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2"/>
  </p:notesMasterIdLst>
  <p:sldIdLst>
    <p:sldId id="256" r:id="rId2"/>
    <p:sldId id="257" r:id="rId3"/>
    <p:sldId id="258" r:id="rId4"/>
    <p:sldId id="260" r:id="rId5"/>
    <p:sldId id="261" r:id="rId6"/>
    <p:sldId id="268" r:id="rId7"/>
    <p:sldId id="264" r:id="rId8"/>
    <p:sldId id="265" r:id="rId9"/>
    <p:sldId id="266" r:id="rId10"/>
    <p:sldId id="267" r:id="rId1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9" roundtripDataSignature="AMtx7mhrpOtJkB+nYUz5n3oaf6YKxntdW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F4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865E338-6E34-4DBC-830E-CF6C46E98416}">
  <a:tblStyle styleId="{6865E338-6E34-4DBC-830E-CF6C46E98416}" styleName="Table_0">
    <a:wholeTbl>
      <a:tcTxStyle b="off" i="off">
        <a:font>
          <a:latin typeface="Arial"/>
          <a:ea typeface="Arial"/>
          <a:cs typeface="Arial"/>
        </a:font>
        <a:schemeClr val="dk1"/>
      </a:tcTxStyle>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insideH>
            <a:ln w="9525" cap="flat" cmpd="sng">
              <a:solidFill>
                <a:schemeClr val="accent3"/>
              </a:solidFill>
              <a:prstDash val="solid"/>
              <a:round/>
              <a:headEnd type="none" w="sm" len="sm"/>
              <a:tailEnd type="none" w="sm" len="sm"/>
            </a:ln>
          </a:insideH>
          <a:insideV>
            <a:ln w="9525" cap="flat" cmpd="sng">
              <a:solidFill>
                <a:schemeClr val="accent3"/>
              </a:solidFill>
              <a:prstDash val="solid"/>
              <a:round/>
              <a:headEnd type="none" w="sm" len="sm"/>
              <a:tailEnd type="none" w="sm" len="sm"/>
            </a:ln>
          </a:insideV>
        </a:tcBdr>
        <a:fill>
          <a:solidFill>
            <a:srgbClr val="FFFFFF">
              <a:alpha val="0"/>
            </a:srgbClr>
          </a:solidFill>
        </a:fill>
      </a:tcStyle>
    </a:wholeTbl>
    <a:band1H>
      <a:tcTxStyle/>
      <a:tcStyle>
        <a:tcBdr/>
        <a:fill>
          <a:solidFill>
            <a:schemeClr val="accent3">
              <a:alpha val="40000"/>
            </a:schemeClr>
          </a:solidFill>
        </a:fill>
      </a:tcStyle>
    </a:band1H>
    <a:band2H>
      <a:tcTxStyle/>
      <a:tcStyle>
        <a:tcBdr/>
      </a:tcStyle>
    </a:band2H>
    <a:band1V>
      <a:tcTxStyle/>
      <a:tcStyle>
        <a:tcBdr>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tcBdr>
        <a:fill>
          <a:solidFill>
            <a:schemeClr val="accent3">
              <a:alpha val="40000"/>
            </a:schemeClr>
          </a:solidFill>
        </a:fill>
      </a:tcStyle>
    </a:band1V>
    <a:band2V>
      <a:tcTxStyle/>
      <a:tcStyle>
        <a:tcBdr/>
      </a:tcStyle>
    </a:band2V>
    <a:lastCol>
      <a:tcTxStyle b="on" i="off"/>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insideH>
            <a:ln w="9525" cap="flat" cmpd="sng">
              <a:solidFill>
                <a:schemeClr val="accent3"/>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lastCol>
    <a:firstCol>
      <a:tcTxStyle b="on" i="off"/>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insideH>
            <a:ln w="9525" cap="flat" cmpd="sng">
              <a:solidFill>
                <a:schemeClr val="accent3"/>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firstCol>
    <a:lastRow>
      <a:tcTxStyle b="on" i="off"/>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op>
            <a:ln w="9525" cap="flat" cmpd="sng">
              <a:solidFill>
                <a:schemeClr val="accent3"/>
              </a:solidFill>
              <a:prstDash val="solid"/>
              <a:round/>
              <a:headEnd type="none" w="sm" len="sm"/>
              <a:tailEnd type="none" w="sm" len="sm"/>
            </a:ln>
          </a:top>
          <a:bottom>
            <a:ln w="9525" cap="flat" cmpd="sng">
              <a:solidFill>
                <a:schemeClr val="l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accent3"/>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1666" y="18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23" Type="http://schemas.openxmlformats.org/officeDocument/2006/relationships/tableStyles" Target="tableStyles.xml"/><Relationship Id="rId10" Type="http://schemas.openxmlformats.org/officeDocument/2006/relationships/slide" Target="slides/slide9.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2" name="Google Shape;4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9" name="Google Shape;49;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6" name="Google Shape;5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70" name="Google Shape;70;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78" name="Google Shape;78;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01" name="Google Shape;101;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09" name="Google Shape;109;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17" name="Google Shape;117;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8232206ad3_1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8232206ad3_1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6" name="Google Shape;126;g38232206ad3_1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pic>
        <p:nvPicPr>
          <p:cNvPr id="25" name="Google Shape;25;p14" descr="LOGO.gif"/>
          <p:cNvPicPr preferRelativeResize="0"/>
          <p:nvPr/>
        </p:nvPicPr>
        <p:blipFill rotWithShape="1">
          <a:blip r:embed="rId2">
            <a:alphaModFix/>
          </a:blip>
          <a:srcRect b="10713"/>
          <a:stretch/>
        </p:blipFill>
        <p:spPr>
          <a:xfrm>
            <a:off x="6553200" y="228600"/>
            <a:ext cx="2057400" cy="635000"/>
          </a:xfrm>
          <a:prstGeom prst="rect">
            <a:avLst/>
          </a:prstGeom>
          <a:noFill/>
          <a:ln>
            <a:noFill/>
          </a:ln>
        </p:spPr>
      </p:pic>
      <p:grpSp>
        <p:nvGrpSpPr>
          <p:cNvPr id="26" name="Google Shape;26;p14"/>
          <p:cNvGrpSpPr/>
          <p:nvPr/>
        </p:nvGrpSpPr>
        <p:grpSpPr>
          <a:xfrm>
            <a:off x="6146800" y="0"/>
            <a:ext cx="2997200" cy="876300"/>
            <a:chOff x="6096000" y="3924300"/>
            <a:chExt cx="2997200" cy="876300"/>
          </a:xfrm>
        </p:grpSpPr>
        <p:sp>
          <p:nvSpPr>
            <p:cNvPr id="27" name="Google Shape;27;p14"/>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8" name="Google Shape;28;p14" descr="LOGO.gif"/>
            <p:cNvPicPr preferRelativeResize="0"/>
            <p:nvPr/>
          </p:nvPicPr>
          <p:blipFill rotWithShape="1">
            <a:blip r:embed="rId2">
              <a:alphaModFix/>
            </a:blip>
            <a:srcRect b="10713"/>
            <a:stretch/>
          </p:blipFill>
          <p:spPr>
            <a:xfrm>
              <a:off x="6502400" y="4152900"/>
              <a:ext cx="2057400" cy="635000"/>
            </a:xfrm>
            <a:prstGeom prst="rect">
              <a:avLst/>
            </a:prstGeom>
            <a:noFill/>
            <a:ln>
              <a:noFill/>
            </a:ln>
          </p:spPr>
        </p:pic>
        <p:sp>
          <p:nvSpPr>
            <p:cNvPr id="29" name="Google Shape;29;p14"/>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30" name="Google Shape;30;p14" descr="logo.jpg"/>
          <p:cNvPicPr preferRelativeResize="0"/>
          <p:nvPr/>
        </p:nvPicPr>
        <p:blipFill rotWithShape="1">
          <a:blip r:embed="rId3">
            <a:alphaModFix/>
          </a:blip>
          <a:srcRect/>
          <a:stretch/>
        </p:blipFill>
        <p:spPr>
          <a:xfrm>
            <a:off x="6553200" y="228600"/>
            <a:ext cx="1920875" cy="609600"/>
          </a:xfrm>
          <a:prstGeom prst="rect">
            <a:avLst/>
          </a:prstGeom>
          <a:noFill/>
          <a:ln>
            <a:noFill/>
          </a:ln>
        </p:spPr>
      </p:pic>
      <p:sp>
        <p:nvSpPr>
          <p:cNvPr id="31" name="Google Shape;31;p1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2" name="Google Shape;32;p14"/>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3" name="Google Shape;33;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4"/>
          <p:cNvSpPr txBox="1">
            <a:spLocks noGrp="1"/>
          </p:cNvSpPr>
          <p:nvPr>
            <p:ph type="ftr" idx="11"/>
          </p:nvPr>
        </p:nvSpPr>
        <p:spPr>
          <a:xfrm>
            <a:off x="3211606" y="6356349"/>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36"/>
        <p:cNvGrpSpPr/>
        <p:nvPr/>
      </p:nvGrpSpPr>
      <p:grpSpPr>
        <a:xfrm>
          <a:off x="0" y="0"/>
          <a:ext cx="0" cy="0"/>
          <a:chOff x="0" y="0"/>
          <a:chExt cx="0" cy="0"/>
        </a:xfrm>
      </p:grpSpPr>
      <p:sp>
        <p:nvSpPr>
          <p:cNvPr id="37" name="Google Shape;37;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13"/>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13"/>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 name="Google Shape;16;p13"/>
          <p:cNvSpPr/>
          <p:nvPr/>
        </p:nvSpPr>
        <p:spPr>
          <a:xfrm rot="10800000" flipH="1">
            <a:off x="0" y="6705600"/>
            <a:ext cx="9144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7" name="Google Shape;17;p13" descr="LOGO.gif"/>
          <p:cNvPicPr preferRelativeResize="0"/>
          <p:nvPr/>
        </p:nvPicPr>
        <p:blipFill rotWithShape="1">
          <a:blip r:embed="rId4">
            <a:alphaModFix/>
          </a:blip>
          <a:srcRect b="10713"/>
          <a:stretch/>
        </p:blipFill>
        <p:spPr>
          <a:xfrm>
            <a:off x="6553200" y="228600"/>
            <a:ext cx="2057400" cy="635000"/>
          </a:xfrm>
          <a:prstGeom prst="rect">
            <a:avLst/>
          </a:prstGeom>
          <a:noFill/>
          <a:ln>
            <a:noFill/>
          </a:ln>
        </p:spPr>
      </p:pic>
      <p:pic>
        <p:nvPicPr>
          <p:cNvPr id="18" name="Google Shape;18;p13" descr="LOGO.gif"/>
          <p:cNvPicPr preferRelativeResize="0"/>
          <p:nvPr/>
        </p:nvPicPr>
        <p:blipFill rotWithShape="1">
          <a:blip r:embed="rId4">
            <a:alphaModFix/>
          </a:blip>
          <a:srcRect b="10713"/>
          <a:stretch/>
        </p:blipFill>
        <p:spPr>
          <a:xfrm>
            <a:off x="6553200" y="228600"/>
            <a:ext cx="2057400" cy="635000"/>
          </a:xfrm>
          <a:prstGeom prst="rect">
            <a:avLst/>
          </a:prstGeom>
          <a:noFill/>
          <a:ln>
            <a:noFill/>
          </a:ln>
        </p:spPr>
      </p:pic>
      <p:grpSp>
        <p:nvGrpSpPr>
          <p:cNvPr id="19" name="Google Shape;19;p13"/>
          <p:cNvGrpSpPr/>
          <p:nvPr/>
        </p:nvGrpSpPr>
        <p:grpSpPr>
          <a:xfrm>
            <a:off x="6146800" y="0"/>
            <a:ext cx="2997200" cy="876300"/>
            <a:chOff x="6096000" y="3924300"/>
            <a:chExt cx="2997200" cy="876300"/>
          </a:xfrm>
        </p:grpSpPr>
        <p:sp>
          <p:nvSpPr>
            <p:cNvPr id="20" name="Google Shape;20;p13"/>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1" name="Google Shape;21;p13" descr="LOGO.gif"/>
            <p:cNvPicPr preferRelativeResize="0"/>
            <p:nvPr/>
          </p:nvPicPr>
          <p:blipFill rotWithShape="1">
            <a:blip r:embed="rId4">
              <a:alphaModFix/>
            </a:blip>
            <a:srcRect b="10713"/>
            <a:stretch/>
          </p:blipFill>
          <p:spPr>
            <a:xfrm>
              <a:off x="6502400" y="4152900"/>
              <a:ext cx="2057400" cy="635000"/>
            </a:xfrm>
            <a:prstGeom prst="rect">
              <a:avLst/>
            </a:prstGeom>
            <a:noFill/>
            <a:ln>
              <a:noFill/>
            </a:ln>
          </p:spPr>
        </p:pic>
        <p:sp>
          <p:nvSpPr>
            <p:cNvPr id="22" name="Google Shape;22;p13"/>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23" name="Google Shape;23;p13" descr="logo.jpg"/>
          <p:cNvPicPr preferRelativeResize="0"/>
          <p:nvPr/>
        </p:nvPicPr>
        <p:blipFill rotWithShape="1">
          <a:blip r:embed="rId5">
            <a:alphaModFix/>
          </a:blip>
          <a:srcRect/>
          <a:stretch/>
        </p:blipFill>
        <p:spPr>
          <a:xfrm>
            <a:off x="6553200" y="228600"/>
            <a:ext cx="1920875"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atin typeface="Times New Roman"/>
                <a:ea typeface="Times New Roman"/>
                <a:cs typeface="Times New Roman"/>
                <a:sym typeface="Times New Roman"/>
              </a:rPr>
              <a:t>1</a:t>
            </a:fld>
            <a:endParaRPr>
              <a:latin typeface="Times New Roman"/>
              <a:ea typeface="Times New Roman"/>
              <a:cs typeface="Times New Roman"/>
              <a:sym typeface="Times New Roman"/>
            </a:endParaRPr>
          </a:p>
        </p:txBody>
      </p:sp>
      <p:sp>
        <p:nvSpPr>
          <p:cNvPr id="45" name="Google Shape;45;p1"/>
          <p:cNvSpPr txBox="1"/>
          <p:nvPr/>
        </p:nvSpPr>
        <p:spPr>
          <a:xfrm>
            <a:off x="115091" y="1772239"/>
            <a:ext cx="8866863" cy="4329159"/>
          </a:xfrm>
          <a:prstGeom prst="rect">
            <a:avLst/>
          </a:prstGeom>
          <a:noFill/>
          <a:ln>
            <a:noFill/>
          </a:ln>
        </p:spPr>
        <p:txBody>
          <a:bodyPr spcFirstLastPara="1" wrap="square" lIns="91425" tIns="331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endParaRPr sz="2800" b="1" i="0" u="none" strike="noStrike" cap="none" dirty="0">
              <a:solidFill>
                <a:srgbClr val="00206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200"/>
              <a:buFont typeface="Arial"/>
              <a:buNone/>
            </a:pPr>
            <a:endParaRPr sz="36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200"/>
              <a:buFont typeface="Arial"/>
              <a:buNone/>
            </a:pPr>
            <a:endParaRPr sz="36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200"/>
              <a:buFont typeface="Arial"/>
              <a:buNone/>
            </a:pPr>
            <a:r>
              <a:rPr lang="en-US" sz="3200" b="1" i="1" u="none" strike="noStrike" cap="none" dirty="0">
                <a:solidFill>
                  <a:srgbClr val="FF0000"/>
                </a:solidFill>
                <a:latin typeface="Times New Roman"/>
                <a:ea typeface="Times New Roman"/>
                <a:cs typeface="Times New Roman"/>
                <a:sym typeface="Times New Roman"/>
              </a:rPr>
              <a:t>Campus Care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endParaRPr sz="2400" b="1" i="0" u="none" strike="noStrike" cap="none" dirty="0">
              <a:solidFill>
                <a:srgbClr val="FF0000"/>
              </a:solidFill>
              <a:latin typeface="Times New Roman"/>
              <a:ea typeface="Times New Roman"/>
              <a:cs typeface="Times New Roman"/>
              <a:sym typeface="Times New Roman"/>
            </a:endParaRPr>
          </a:p>
          <a:p>
            <a:pPr>
              <a:buSzPts val="3200"/>
            </a:pPr>
            <a:r>
              <a:rPr lang="en-US" sz="1400" b="0" i="0" u="none" strike="noStrike" cap="none" dirty="0">
                <a:solidFill>
                  <a:srgbClr val="000000"/>
                </a:solidFill>
                <a:latin typeface="Arial"/>
                <a:ea typeface="Arial"/>
                <a:cs typeface="Arial"/>
                <a:sym typeface="Arial"/>
              </a:rPr>
              <a:t>		</a:t>
            </a:r>
          </a:p>
          <a:p>
            <a:pPr marL="0" lvl="0" indent="0" algn="ctr">
              <a:buSzPts val="1800"/>
              <a:buFont typeface="Arial"/>
              <a:buNone/>
            </a:pPr>
            <a:r>
              <a:rPr lang="en-US" sz="1800" b="1" dirty="0">
                <a:solidFill>
                  <a:schemeClr val="dk2"/>
                </a:solidFill>
                <a:latin typeface="Times New Roman"/>
                <a:cs typeface="Times New Roman"/>
                <a:sym typeface="Times New Roman"/>
              </a:rPr>
              <a:t>Kavya Aggarwal , 2310991952</a:t>
            </a:r>
          </a:p>
          <a:p>
            <a:pPr marL="0" lvl="0" indent="0" algn="ctr">
              <a:buSzPts val="1800"/>
              <a:buFont typeface="Arial"/>
              <a:buNone/>
            </a:pPr>
            <a:r>
              <a:rPr lang="en-US" sz="1800" b="1" dirty="0">
                <a:solidFill>
                  <a:schemeClr val="dk2"/>
                </a:solidFill>
                <a:latin typeface="Times New Roman"/>
                <a:cs typeface="Times New Roman"/>
                <a:sym typeface="Times New Roman"/>
              </a:rPr>
              <a:t>Keshav </a:t>
            </a:r>
            <a:r>
              <a:rPr lang="en-US" sz="1800" b="1" dirty="0" err="1">
                <a:solidFill>
                  <a:schemeClr val="dk2"/>
                </a:solidFill>
                <a:latin typeface="Times New Roman"/>
                <a:cs typeface="Times New Roman"/>
                <a:sym typeface="Times New Roman"/>
              </a:rPr>
              <a:t>Kinger</a:t>
            </a:r>
            <a:r>
              <a:rPr lang="en-US" sz="1800" b="1" dirty="0">
                <a:solidFill>
                  <a:schemeClr val="dk2"/>
                </a:solidFill>
                <a:latin typeface="Times New Roman"/>
                <a:cs typeface="Times New Roman"/>
                <a:sym typeface="Times New Roman"/>
              </a:rPr>
              <a:t>, 2310991953</a:t>
            </a:r>
          </a:p>
          <a:p>
            <a:pPr algn="ctr">
              <a:buSzPts val="1800"/>
            </a:pPr>
            <a:r>
              <a:rPr lang="en-US" sz="1800" b="1" dirty="0" err="1">
                <a:solidFill>
                  <a:schemeClr val="dk2"/>
                </a:solidFill>
                <a:latin typeface="Times New Roman"/>
                <a:cs typeface="Times New Roman"/>
                <a:sym typeface="Times New Roman"/>
              </a:rPr>
              <a:t>Himank</a:t>
            </a:r>
            <a:r>
              <a:rPr lang="en-US" sz="1800" b="1" dirty="0">
                <a:solidFill>
                  <a:schemeClr val="dk2"/>
                </a:solidFill>
                <a:latin typeface="Times New Roman"/>
                <a:cs typeface="Times New Roman"/>
                <a:sym typeface="Times New Roman"/>
              </a:rPr>
              <a:t> Goel, 2310992580</a:t>
            </a:r>
          </a:p>
          <a:p>
            <a:pPr algn="ctr">
              <a:buSzPts val="1800"/>
            </a:pPr>
            <a:r>
              <a:rPr lang="en-US" sz="1800" b="1" dirty="0" err="1">
                <a:solidFill>
                  <a:schemeClr val="dk2"/>
                </a:solidFill>
                <a:latin typeface="Times New Roman"/>
                <a:cs typeface="Times New Roman"/>
                <a:sym typeface="Times New Roman"/>
              </a:rPr>
              <a:t>Naman</a:t>
            </a:r>
            <a:r>
              <a:rPr lang="en-US" sz="1800" b="1" dirty="0">
                <a:solidFill>
                  <a:schemeClr val="dk2"/>
                </a:solidFill>
                <a:latin typeface="Times New Roman"/>
                <a:cs typeface="Times New Roman"/>
                <a:sym typeface="Times New Roman"/>
              </a:rPr>
              <a:t> Singh, 2310991994</a:t>
            </a:r>
          </a:p>
          <a:p>
            <a:pPr algn="ctr">
              <a:buSzPts val="1800"/>
            </a:pPr>
            <a:r>
              <a:rPr lang="en-US" sz="1800" b="1" dirty="0" err="1">
                <a:solidFill>
                  <a:schemeClr val="dk2"/>
                </a:solidFill>
                <a:latin typeface="Times New Roman"/>
                <a:cs typeface="Times New Roman"/>
                <a:sym typeface="Times New Roman"/>
              </a:rPr>
              <a:t>Prabhnoor</a:t>
            </a:r>
            <a:r>
              <a:rPr lang="en-US" sz="1800" b="1" dirty="0">
                <a:solidFill>
                  <a:schemeClr val="dk2"/>
                </a:solidFill>
                <a:latin typeface="Times New Roman"/>
                <a:cs typeface="Times New Roman"/>
                <a:sym typeface="Times New Roman"/>
              </a:rPr>
              <a:t> Singh, 2310992493</a:t>
            </a:r>
            <a:endParaRPr lang="en-US" sz="1800" b="1" dirty="0">
              <a:solidFill>
                <a:schemeClr val="dk2"/>
              </a:solidFill>
              <a:latin typeface="Times New Roman"/>
              <a:cs typeface="Times New Roman"/>
            </a:endParaRPr>
          </a:p>
          <a:p>
            <a:pPr marL="0" marR="0" lvl="0" indent="0" algn="ctr" rtl="0">
              <a:lnSpc>
                <a:spcPct val="100000"/>
              </a:lnSpc>
              <a:spcBef>
                <a:spcPts val="0"/>
              </a:spcBef>
              <a:spcAft>
                <a:spcPts val="0"/>
              </a:spcAft>
              <a:buClr>
                <a:srgbClr val="000000"/>
              </a:buClr>
              <a:buSzPts val="1800"/>
              <a:buFont typeface="Arial"/>
              <a:buNone/>
            </a:pPr>
            <a:endParaRPr lang="en-US"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1" i="0" u="none" strike="noStrike" cap="none" dirty="0">
              <a:solidFill>
                <a:schemeClr val="dk2"/>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2"/>
                </a:solidFill>
                <a:latin typeface="Times New Roman"/>
                <a:ea typeface="Times New Roman"/>
                <a:cs typeface="Times New Roman"/>
                <a:sym typeface="Times New Roman"/>
              </a:rPr>
              <a:t>Class Group: G-22</a:t>
            </a:r>
            <a:endParaRPr sz="1800" b="1" i="0" u="none" strike="noStrike" cap="none" dirty="0">
              <a:solidFill>
                <a:schemeClr val="dk2"/>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b="1" i="0" u="none" strike="noStrike" cap="none" dirty="0">
              <a:solidFill>
                <a:schemeClr val="dk2"/>
              </a:solidFill>
              <a:latin typeface="Times New Roman"/>
              <a:ea typeface="Times New Roman"/>
              <a:cs typeface="Times New Roman"/>
              <a:sym typeface="Times New Roman"/>
            </a:endParaRPr>
          </a:p>
          <a:p>
            <a:pPr>
              <a:buSzPts val="1800"/>
            </a:pPr>
            <a:r>
              <a:rPr lang="en-US" sz="1800" b="1" i="0" u="none" strike="noStrike" cap="none" dirty="0">
                <a:solidFill>
                  <a:schemeClr val="dk2"/>
                </a:solidFill>
                <a:latin typeface="Times New Roman"/>
                <a:ea typeface="Times New Roman"/>
                <a:cs typeface="Times New Roman"/>
                <a:sym typeface="Times New Roman"/>
              </a:rPr>
              <a:t>Submitted To : </a:t>
            </a:r>
            <a:r>
              <a:rPr lang="en-US" sz="1800" b="1" dirty="0">
                <a:solidFill>
                  <a:schemeClr val="dk2"/>
                </a:solidFill>
                <a:latin typeface="Times New Roman"/>
                <a:ea typeface="Times New Roman"/>
                <a:cs typeface="Times New Roman"/>
                <a:sym typeface="Times New Roman"/>
              </a:rPr>
              <a:t>Mr. Gauri Nandan</a:t>
            </a:r>
            <a:r>
              <a:rPr lang="en-US" sz="1800" b="1" i="0" u="none" strike="noStrike" cap="none" dirty="0">
                <a:solidFill>
                  <a:schemeClr val="dk2"/>
                </a:solidFill>
                <a:latin typeface="Times New Roman"/>
                <a:ea typeface="Times New Roman"/>
                <a:cs typeface="Times New Roman"/>
                <a:sym typeface="Times New Roman"/>
              </a:rPr>
              <a:t>                                         Faculty: </a:t>
            </a:r>
            <a:r>
              <a:rPr lang="en-US" sz="1800" b="1" dirty="0">
                <a:solidFill>
                  <a:schemeClr val="dk2"/>
                </a:solidFill>
                <a:latin typeface="Times New Roman"/>
                <a:ea typeface="Times New Roman"/>
                <a:cs typeface="Times New Roman"/>
                <a:sym typeface="Times New Roman"/>
              </a:rPr>
              <a:t>Ms. Ankita</a:t>
            </a:r>
            <a:endParaRPr lang="en-US" dirty="0"/>
          </a:p>
          <a:p>
            <a:pPr lvl="0">
              <a:buSzPts val="1800"/>
            </a:pPr>
            <a:r>
              <a:rPr lang="en-US" sz="1800" b="1" i="0" u="none" strike="noStrike" cap="none" dirty="0">
                <a:solidFill>
                  <a:schemeClr val="dk2"/>
                </a:solidFill>
                <a:latin typeface="Times New Roman"/>
                <a:ea typeface="Times New Roman"/>
                <a:cs typeface="Times New Roman"/>
                <a:sym typeface="Times New Roman"/>
              </a:rPr>
              <a:t> 		</a:t>
            </a:r>
          </a:p>
          <a:p>
            <a:pPr lvl="0">
              <a:buSzPts val="1800"/>
            </a:pPr>
            <a:r>
              <a:rPr lang="en-US" sz="1800" b="1" i="0" u="none" strike="noStrike" cap="none" dirty="0">
                <a:solidFill>
                  <a:schemeClr val="dk2"/>
                </a:solidFill>
                <a:latin typeface="Times New Roman"/>
                <a:ea typeface="Times New Roman"/>
                <a:cs typeface="Times New Roman"/>
                <a:sym typeface="Times New Roman"/>
              </a:rPr>
              <a:t>		</a:t>
            </a:r>
            <a:endParaRPr lang="en-US"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2"/>
                </a:solidFill>
                <a:latin typeface="Times New Roman"/>
                <a:ea typeface="Times New Roman"/>
                <a:cs typeface="Times New Roman"/>
                <a:sym typeface="Times New Roman"/>
              </a:rPr>
              <a:t>Department of Computer Science Engineering</a:t>
            </a:r>
            <a:endParaRPr lang="en-US" sz="3200" b="1" i="0" u="none" strike="noStrike" cap="none" dirty="0">
              <a:solidFill>
                <a:schemeClr val="dk2"/>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200"/>
              <a:buFont typeface="Arial"/>
              <a:buNone/>
            </a:pPr>
            <a:endParaRPr sz="32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200"/>
              <a:buFont typeface="Arial"/>
              <a:buNone/>
            </a:pPr>
            <a:endParaRPr sz="32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4000"/>
              <a:buFont typeface="Arial"/>
              <a:buNone/>
            </a:pPr>
            <a:endParaRPr sz="40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4000"/>
              <a:buFont typeface="Arial"/>
              <a:buNone/>
            </a:pPr>
            <a:endParaRPr sz="4000" b="1" i="0" u="none" strike="noStrike" cap="none" dirty="0">
              <a:solidFill>
                <a:schemeClr val="dk1"/>
              </a:solidFill>
              <a:latin typeface="Times New Roman"/>
              <a:ea typeface="Times New Roman"/>
              <a:cs typeface="Times New Roman"/>
              <a:sym typeface="Times New Roman"/>
            </a:endParaRPr>
          </a:p>
        </p:txBody>
      </p:sp>
      <p:sp>
        <p:nvSpPr>
          <p:cNvPr id="46" name="Google Shape;46;p1"/>
          <p:cNvSpPr txBox="1"/>
          <p:nvPr/>
        </p:nvSpPr>
        <p:spPr>
          <a:xfrm>
            <a:off x="1751196" y="971140"/>
            <a:ext cx="5355281"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1800" b="1" i="0" u="none" strike="noStrike" cap="none">
                <a:solidFill>
                  <a:srgbClr val="002060"/>
                </a:solidFill>
                <a:latin typeface="Times New Roman"/>
                <a:ea typeface="Times New Roman"/>
                <a:cs typeface="Times New Roman"/>
                <a:sym typeface="Times New Roman"/>
              </a:rPr>
              <a:t>Backend Engineering Project </a:t>
            </a: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2"/>
          <p:cNvSpPr txBox="1">
            <a:spLocks noGrp="1"/>
          </p:cNvSpPr>
          <p:nvPr>
            <p:ph type="title"/>
          </p:nvPr>
        </p:nvSpPr>
        <p:spPr>
          <a:xfrm>
            <a:off x="0" y="-27175"/>
            <a:ext cx="6870100" cy="819900"/>
          </a:xfrm>
          <a:prstGeom prst="rect">
            <a:avLst/>
          </a:prstGeom>
          <a:noFill/>
          <a:ln>
            <a:noFill/>
          </a:ln>
        </p:spPr>
        <p:txBody>
          <a:bodyPr spcFirstLastPara="1" wrap="square" lIns="91425" tIns="45700" rIns="91425" bIns="45700" anchor="ctr" anchorCtr="0">
            <a:noAutofit/>
          </a:bodyPr>
          <a:lstStyle/>
          <a:p>
            <a:pPr marL="0" lvl="0" indent="0" rtl="0">
              <a:lnSpc>
                <a:spcPct val="100000"/>
              </a:lnSpc>
              <a:spcBef>
                <a:spcPts val="0"/>
              </a:spcBef>
              <a:spcAft>
                <a:spcPts val="0"/>
              </a:spcAft>
              <a:buSzPts val="1400"/>
              <a:buNone/>
            </a:pPr>
            <a:r>
              <a:rPr lang="en-US" sz="3200" b="1">
                <a:solidFill>
                  <a:srgbClr val="0C0C0C"/>
                </a:solidFill>
                <a:latin typeface="Times New Roman"/>
                <a:ea typeface="Times New Roman"/>
                <a:cs typeface="Times New Roman"/>
                <a:sym typeface="Times New Roman"/>
              </a:rPr>
              <a:t>Introduction</a:t>
            </a:r>
            <a:endParaRPr sz="5000" b="1">
              <a:solidFill>
                <a:srgbClr val="0C0C0C"/>
              </a:solidFill>
              <a:latin typeface="Times New Roman"/>
              <a:ea typeface="Times New Roman"/>
              <a:cs typeface="Times New Roman"/>
              <a:sym typeface="Times New Roman"/>
            </a:endParaRPr>
          </a:p>
        </p:txBody>
      </p:sp>
      <p:sp>
        <p:nvSpPr>
          <p:cNvPr id="52" name="Google Shape;52;p2"/>
          <p:cNvSpPr txBox="1">
            <a:spLocks noGrp="1"/>
          </p:cNvSpPr>
          <p:nvPr>
            <p:ph type="body" idx="1"/>
          </p:nvPr>
        </p:nvSpPr>
        <p:spPr>
          <a:xfrm>
            <a:off x="164891" y="1064302"/>
            <a:ext cx="8521909" cy="5292048"/>
          </a:xfrm>
          <a:prstGeom prst="rect">
            <a:avLst/>
          </a:prstGeom>
          <a:noFill/>
          <a:ln>
            <a:noFill/>
          </a:ln>
        </p:spPr>
        <p:txBody>
          <a:bodyPr spcFirstLastPara="1" wrap="square" lIns="91425" tIns="45700" rIns="91425" bIns="45700" anchor="t" anchorCtr="0">
            <a:noAutofit/>
          </a:bodyPr>
          <a:lstStyle/>
          <a:p>
            <a:pPr marL="114300" lvl="0" indent="0" algn="ctr">
              <a:buNone/>
            </a:pPr>
            <a:r>
              <a:rPr lang="en-US" i="1" dirty="0"/>
              <a:t>Campus Care – School Management System</a:t>
            </a:r>
          </a:p>
          <a:p>
            <a:pPr marL="114300" lvl="0" indent="0" algn="ctr">
              <a:buNone/>
            </a:pPr>
            <a:endParaRPr dirty="0"/>
          </a:p>
          <a:p>
            <a:pPr algn="just"/>
            <a:r>
              <a:rPr lang="en-US" sz="2400" dirty="0"/>
              <a:t>The report </a:t>
            </a:r>
            <a:r>
              <a:rPr lang="en-US" sz="2400" b="1" dirty="0"/>
              <a:t>“Campus Care – School Management System”</a:t>
            </a:r>
            <a:r>
              <a:rPr lang="en-US" sz="2400" dirty="0"/>
              <a:t> presents a scalable and efficient platform designed to streamline school operations. It supports features such as student information management, attendance tracking, timetable scheduling, fee management, and communication between staff, students, and parents. Built with a modular and performance-focused architecture, the system is ready for seamless frontend integration. Future enhancements like analytics, role-based access, and smart notifications further strengthen its potential, making Campus Care a reliable foundation for modern educational institutions.</a:t>
            </a:r>
          </a:p>
        </p:txBody>
      </p:sp>
      <p:sp>
        <p:nvSpPr>
          <p:cNvPr id="53" name="Google Shape;53;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0" y="0"/>
            <a:ext cx="4517700" cy="839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3200" b="1" dirty="0">
                <a:solidFill>
                  <a:srgbClr val="0C0C0C"/>
                </a:solidFill>
                <a:latin typeface="Times New Roman"/>
                <a:ea typeface="Times New Roman"/>
                <a:cs typeface="Times New Roman"/>
                <a:sym typeface="Times New Roman"/>
              </a:rPr>
              <a:t>Features</a:t>
            </a:r>
            <a:endParaRPr sz="4800" b="1" dirty="0">
              <a:solidFill>
                <a:srgbClr val="0C0C0C"/>
              </a:solidFill>
              <a:latin typeface="Times New Roman"/>
              <a:ea typeface="Times New Roman"/>
              <a:cs typeface="Times New Roman"/>
              <a:sym typeface="Times New Roman"/>
            </a:endParaRPr>
          </a:p>
        </p:txBody>
      </p:sp>
      <p:sp>
        <p:nvSpPr>
          <p:cNvPr id="59" name="Google Shape;59;p3"/>
          <p:cNvSpPr txBox="1">
            <a:spLocks noGrp="1"/>
          </p:cNvSpPr>
          <p:nvPr>
            <p:ph type="body" idx="1"/>
          </p:nvPr>
        </p:nvSpPr>
        <p:spPr>
          <a:xfrm>
            <a:off x="149841" y="901670"/>
            <a:ext cx="8785815" cy="5454682"/>
          </a:xfrm>
          <a:prstGeom prst="rect">
            <a:avLst/>
          </a:prstGeom>
          <a:noFill/>
          <a:ln>
            <a:noFill/>
          </a:ln>
        </p:spPr>
        <p:txBody>
          <a:bodyPr spcFirstLastPara="1" wrap="square" lIns="91425" tIns="45700" rIns="91425" bIns="45700" anchor="t" anchorCtr="0">
            <a:noAutofit/>
          </a:bodyPr>
          <a:lstStyle/>
          <a:p>
            <a:pPr marL="114300" lvl="0" indent="0" algn="ctr" rtl="0">
              <a:lnSpc>
                <a:spcPct val="100000"/>
              </a:lnSpc>
              <a:spcBef>
                <a:spcPts val="360"/>
              </a:spcBef>
              <a:spcAft>
                <a:spcPts val="0"/>
              </a:spcAft>
              <a:buSzPts val="1800"/>
              <a:buNone/>
            </a:pPr>
            <a:r>
              <a:rPr lang="en-US" sz="2400" b="1" dirty="0"/>
              <a:t>🔑</a:t>
            </a:r>
            <a:r>
              <a:rPr lang="en-US" sz="2800" b="1" dirty="0"/>
              <a:t>Key Features</a:t>
            </a:r>
          </a:p>
          <a:p>
            <a:pPr marL="114300" lvl="0" indent="0" algn="ctr" rtl="0">
              <a:lnSpc>
                <a:spcPct val="100000"/>
              </a:lnSpc>
              <a:spcBef>
                <a:spcPts val="360"/>
              </a:spcBef>
              <a:spcAft>
                <a:spcPts val="0"/>
              </a:spcAft>
              <a:buSzPts val="1800"/>
              <a:buNone/>
            </a:pPr>
            <a:endParaRPr lang="en-US" sz="2400" b="1" u="sng" dirty="0"/>
          </a:p>
          <a:p>
            <a:pPr marL="114300" lvl="0" indent="0" algn="ctr" rtl="0">
              <a:lnSpc>
                <a:spcPct val="100000"/>
              </a:lnSpc>
              <a:spcBef>
                <a:spcPts val="360"/>
              </a:spcBef>
              <a:spcAft>
                <a:spcPts val="0"/>
              </a:spcAft>
              <a:buSzPts val="1800"/>
              <a:buNone/>
            </a:pPr>
            <a:endParaRPr sz="2400" dirty="0">
              <a:latin typeface="Times New Roman"/>
              <a:ea typeface="Times New Roman"/>
              <a:cs typeface="Times New Roman"/>
              <a:sym typeface="Times New Roman"/>
            </a:endParaRPr>
          </a:p>
          <a:p>
            <a:pPr marL="114300" lvl="0" indent="0" algn="ctr" rtl="0">
              <a:lnSpc>
                <a:spcPct val="100000"/>
              </a:lnSpc>
              <a:spcBef>
                <a:spcPts val="360"/>
              </a:spcBef>
              <a:spcAft>
                <a:spcPts val="0"/>
              </a:spcAft>
              <a:buSzPts val="1800"/>
              <a:buNone/>
            </a:pPr>
            <a:endParaRPr dirty="0">
              <a:latin typeface="Times New Roman"/>
              <a:ea typeface="Times New Roman"/>
              <a:cs typeface="Times New Roman"/>
              <a:sym typeface="Times New Roman"/>
            </a:endParaRPr>
          </a:p>
          <a:p>
            <a:pPr marL="114300" lvl="0" indent="0" algn="ctr" rtl="0">
              <a:lnSpc>
                <a:spcPct val="100000"/>
              </a:lnSpc>
              <a:spcBef>
                <a:spcPts val="360"/>
              </a:spcBef>
              <a:spcAft>
                <a:spcPts val="0"/>
              </a:spcAft>
              <a:buSzPts val="1800"/>
              <a:buNone/>
            </a:pPr>
            <a:endParaRPr dirty="0">
              <a:latin typeface="Times New Roman"/>
              <a:ea typeface="Times New Roman"/>
              <a:cs typeface="Times New Roman"/>
              <a:sym typeface="Times New Roman"/>
            </a:endParaRPr>
          </a:p>
        </p:txBody>
      </p:sp>
      <p:sp>
        <p:nvSpPr>
          <p:cNvPr id="60" name="Google Shape;6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
        <p:nvSpPr>
          <p:cNvPr id="5" name="Rectangle 4">
            <a:extLst>
              <a:ext uri="{FF2B5EF4-FFF2-40B4-BE49-F238E27FC236}">
                <a16:creationId xmlns:a16="http://schemas.microsoft.com/office/drawing/2014/main" id="{013E93C5-0B1A-3D5C-9887-BBBBAE92E951}"/>
              </a:ext>
            </a:extLst>
          </p:cNvPr>
          <p:cNvSpPr>
            <a:spLocks noChangeArrowheads="1"/>
          </p:cNvSpPr>
          <p:nvPr/>
        </p:nvSpPr>
        <p:spPr bwMode="auto">
          <a:xfrm>
            <a:off x="635320" y="1261934"/>
            <a:ext cx="8178801" cy="5539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User Authentication &amp; Authorization</a:t>
            </a:r>
            <a:r>
              <a:rPr kumimoji="0" lang="en-US" altLang="en-US" sz="2000" b="0" i="0" u="none" strike="noStrike" cap="none" normalizeH="0" baseline="0" dirty="0">
                <a:ln>
                  <a:noFill/>
                </a:ln>
                <a:solidFill>
                  <a:schemeClr val="tx1"/>
                </a:solidFill>
                <a:effectLst/>
                <a:latin typeface="Arial" panose="020B0604020202020204" pitchFamily="34" charset="0"/>
              </a:rPr>
              <a:t> – Secure login and registration system to manage user access.</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285750" lvl="0" indent="-285750" eaLnBrk="0" fontAlgn="base" hangingPunct="0">
              <a:spcBef>
                <a:spcPct val="0"/>
              </a:spcBef>
              <a:spcAft>
                <a:spcPct val="0"/>
              </a:spcAft>
              <a:buClrTx/>
              <a:buFont typeface="Arial" panose="020B0604020202020204" pitchFamily="34" charset="0"/>
              <a:buChar char="•"/>
            </a:pPr>
            <a:r>
              <a:rPr lang="en-US" sz="2000" b="1" dirty="0"/>
              <a:t>Users Upload &amp; Management</a:t>
            </a:r>
            <a:r>
              <a:rPr lang="en-US" sz="2000" dirty="0"/>
              <a:t> – Allows admin to upload, store, and organize users.</a:t>
            </a:r>
          </a:p>
          <a:p>
            <a:pPr marL="285750" lvl="0" indent="-285750" eaLnBrk="0" fontAlgn="base" hangingPunct="0">
              <a:spcBef>
                <a:spcPct val="0"/>
              </a:spcBef>
              <a:spcAft>
                <a:spcPct val="0"/>
              </a:spcAft>
              <a:buClrTx/>
              <a:buFont typeface="Arial" panose="020B0604020202020204" pitchFamily="34" charset="0"/>
              <a:buChar char="•"/>
            </a:pPr>
            <a:endParaRPr lang="en-US" sz="2000" dirty="0"/>
          </a:p>
          <a:p>
            <a:pPr marL="285750" lvl="0" indent="-285750" eaLnBrk="0" fontAlgn="base" hangingPunct="0">
              <a:spcBef>
                <a:spcPct val="0"/>
              </a:spcBef>
              <a:spcAft>
                <a:spcPct val="0"/>
              </a:spcAft>
              <a:buClrTx/>
              <a:buFont typeface="Arial" panose="020B0604020202020204" pitchFamily="34" charset="0"/>
              <a:buChar char="•"/>
            </a:pPr>
            <a:r>
              <a:rPr lang="en-US" sz="2000" b="1" dirty="0"/>
              <a:t>Student Record Management – </a:t>
            </a:r>
            <a:r>
              <a:rPr lang="en-US" sz="2000" dirty="0"/>
              <a:t>Enables efficient creation, updating, and maintenance of student profiles and academic data.</a:t>
            </a:r>
          </a:p>
          <a:p>
            <a:pPr marL="285750" lvl="0" indent="-285750" eaLnBrk="0" fontAlgn="base" hangingPunct="0">
              <a:spcBef>
                <a:spcPct val="0"/>
              </a:spcBef>
              <a:spcAft>
                <a:spcPct val="0"/>
              </a:spcAft>
              <a:buClrTx/>
              <a:buFont typeface="Arial" panose="020B0604020202020204" pitchFamily="34" charset="0"/>
              <a:buChar char="•"/>
            </a:pPr>
            <a:endParaRPr lang="en-US" sz="2000" b="1" dirty="0"/>
          </a:p>
          <a:p>
            <a:pPr marL="285750" lvl="0" indent="-285750" eaLnBrk="0" fontAlgn="base" hangingPunct="0">
              <a:spcBef>
                <a:spcPct val="0"/>
              </a:spcBef>
              <a:spcAft>
                <a:spcPct val="0"/>
              </a:spcAft>
              <a:buClrTx/>
              <a:buFont typeface="Arial" panose="020B0604020202020204" pitchFamily="34" charset="0"/>
              <a:buChar char="•"/>
            </a:pPr>
            <a:r>
              <a:rPr lang="en-US" sz="2000" b="1" dirty="0"/>
              <a:t>Search Functionality – </a:t>
            </a:r>
            <a:r>
              <a:rPr lang="en-US" sz="2000" dirty="0"/>
              <a:t>Provides quick access to student, staff, and academic records through an optimized search system.</a:t>
            </a:r>
          </a:p>
          <a:p>
            <a:pPr marL="285750" lvl="0" indent="-285750" eaLnBrk="0" fontAlgn="base" hangingPunct="0">
              <a:spcBef>
                <a:spcPct val="0"/>
              </a:spcBef>
              <a:spcAft>
                <a:spcPct val="0"/>
              </a:spcAft>
              <a:buClrTx/>
              <a:buFont typeface="Arial" panose="020B0604020202020204" pitchFamily="34" charset="0"/>
              <a:buChar char="•"/>
            </a:pPr>
            <a:endParaRPr lang="en-US" sz="2000" b="1" dirty="0"/>
          </a:p>
          <a:p>
            <a:pPr marL="285750" lvl="0" indent="-285750" eaLnBrk="0" fontAlgn="base" hangingPunct="0">
              <a:spcBef>
                <a:spcPct val="0"/>
              </a:spcBef>
              <a:spcAft>
                <a:spcPct val="0"/>
              </a:spcAft>
              <a:buClrTx/>
              <a:buFont typeface="Arial" panose="020B0604020202020204" pitchFamily="34" charset="0"/>
              <a:buChar char="•"/>
            </a:pPr>
            <a:r>
              <a:rPr lang="en-US" sz="2000" b="1" dirty="0"/>
              <a:t>Real-Time Data Access – </a:t>
            </a:r>
            <a:r>
              <a:rPr lang="en-US" sz="2000" dirty="0"/>
              <a:t>Ensures smooth and efficient retrieval of information such as attendance, schedules, and results with optimized performance.</a:t>
            </a:r>
            <a:r>
              <a:rPr lang="en-US" sz="1800" dirty="0"/>
              <a:t>.</a:t>
            </a: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5"/>
          <p:cNvSpPr txBox="1">
            <a:spLocks noGrp="1"/>
          </p:cNvSpPr>
          <p:nvPr>
            <p:ph type="title"/>
          </p:nvPr>
        </p:nvSpPr>
        <p:spPr>
          <a:xfrm>
            <a:off x="-215348" y="0"/>
            <a:ext cx="6477000" cy="839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3600" b="1" dirty="0">
                <a:solidFill>
                  <a:srgbClr val="0C0C0C"/>
                </a:solidFill>
                <a:latin typeface="Times New Roman"/>
                <a:ea typeface="Times New Roman"/>
                <a:cs typeface="Times New Roman"/>
                <a:sym typeface="Times New Roman"/>
              </a:rPr>
              <a:t>Tech Stack</a:t>
            </a:r>
            <a:endParaRPr sz="5400" b="1" dirty="0">
              <a:solidFill>
                <a:srgbClr val="0C0C0C"/>
              </a:solidFill>
              <a:latin typeface="Times New Roman"/>
              <a:ea typeface="Times New Roman"/>
              <a:cs typeface="Times New Roman"/>
              <a:sym typeface="Times New Roman"/>
            </a:endParaRPr>
          </a:p>
        </p:txBody>
      </p:sp>
      <p:sp>
        <p:nvSpPr>
          <p:cNvPr id="73" name="Google Shape;73;p5"/>
          <p:cNvSpPr txBox="1">
            <a:spLocks noGrp="1"/>
          </p:cNvSpPr>
          <p:nvPr>
            <p:ph type="body" idx="1"/>
          </p:nvPr>
        </p:nvSpPr>
        <p:spPr>
          <a:xfrm>
            <a:off x="164891" y="1064302"/>
            <a:ext cx="8844197" cy="5292048"/>
          </a:xfrm>
          <a:prstGeom prst="rect">
            <a:avLst/>
          </a:prstGeom>
          <a:noFill/>
          <a:ln>
            <a:noFill/>
          </a:ln>
        </p:spPr>
        <p:txBody>
          <a:bodyPr spcFirstLastPara="1" wrap="square" lIns="91425" tIns="45700" rIns="91425" bIns="45700" anchor="t" anchorCtr="0">
            <a:noAutofit/>
          </a:bodyPr>
          <a:lstStyle/>
          <a:p>
            <a:pPr marL="114300" lvl="0" indent="0" algn="ctr" rtl="0">
              <a:lnSpc>
                <a:spcPct val="100000"/>
              </a:lnSpc>
              <a:spcBef>
                <a:spcPts val="360"/>
              </a:spcBef>
              <a:spcAft>
                <a:spcPts val="0"/>
              </a:spcAft>
              <a:buSzPts val="1800"/>
              <a:buNone/>
            </a:pPr>
            <a:endParaRPr dirty="0">
              <a:latin typeface="Times New Roman"/>
              <a:ea typeface="Times New Roman"/>
              <a:cs typeface="Times New Roman"/>
              <a:sym typeface="Times New Roman"/>
            </a:endParaRPr>
          </a:p>
          <a:p>
            <a:pPr marL="114300" lvl="0" indent="0" algn="just" rtl="0">
              <a:lnSpc>
                <a:spcPct val="100000"/>
              </a:lnSpc>
              <a:spcBef>
                <a:spcPts val="360"/>
              </a:spcBef>
              <a:spcAft>
                <a:spcPts val="0"/>
              </a:spcAft>
              <a:buSzPts val="1800"/>
              <a:buNone/>
            </a:pPr>
            <a:endParaRPr sz="2400" dirty="0">
              <a:latin typeface="Times New Roman"/>
              <a:ea typeface="Times New Roman"/>
              <a:cs typeface="Times New Roman"/>
              <a:sym typeface="Times New Roman"/>
            </a:endParaRPr>
          </a:p>
        </p:txBody>
      </p:sp>
      <p:sp>
        <p:nvSpPr>
          <p:cNvPr id="74" name="Google Shape;74;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pic>
        <p:nvPicPr>
          <p:cNvPr id="4" name="Picture 3">
            <a:extLst>
              <a:ext uri="{FF2B5EF4-FFF2-40B4-BE49-F238E27FC236}">
                <a16:creationId xmlns:a16="http://schemas.microsoft.com/office/drawing/2014/main" id="{0B792912-9545-6D60-A1D4-F79436805BA9}"/>
              </a:ext>
            </a:extLst>
          </p:cNvPr>
          <p:cNvPicPr>
            <a:picLocks noChangeAspect="1"/>
          </p:cNvPicPr>
          <p:nvPr/>
        </p:nvPicPr>
        <p:blipFill>
          <a:blip r:embed="rId3"/>
          <a:srcRect l="834" t="22739" r="1272" b="22739"/>
          <a:stretch>
            <a:fillRect/>
          </a:stretch>
        </p:blipFill>
        <p:spPr>
          <a:xfrm>
            <a:off x="164891" y="1435260"/>
            <a:ext cx="8503920" cy="4358438"/>
          </a:xfrm>
          <a:prstGeom prst="rect">
            <a:avLst/>
          </a:prstGeom>
        </p:spPr>
      </p:pic>
      <p:sp>
        <p:nvSpPr>
          <p:cNvPr id="2" name="TextBox 1">
            <a:extLst>
              <a:ext uri="{FF2B5EF4-FFF2-40B4-BE49-F238E27FC236}">
                <a16:creationId xmlns:a16="http://schemas.microsoft.com/office/drawing/2014/main" id="{E14676CA-84D5-4715-AEDF-15393D7AE1FB}"/>
              </a:ext>
            </a:extLst>
          </p:cNvPr>
          <p:cNvSpPr txBox="1"/>
          <p:nvPr/>
        </p:nvSpPr>
        <p:spPr>
          <a:xfrm>
            <a:off x="1651000" y="2504441"/>
            <a:ext cx="2773680" cy="369332"/>
          </a:xfrm>
          <a:prstGeom prst="rect">
            <a:avLst/>
          </a:prstGeom>
          <a:solidFill>
            <a:srgbClr val="EAF4E1"/>
          </a:solidFill>
        </p:spPr>
        <p:txBody>
          <a:bodyPr wrap="square" rtlCol="0">
            <a:spAutoFit/>
          </a:bodyPr>
          <a:lstStyle/>
          <a:p>
            <a:r>
              <a:rPr lang="en-US" sz="1800" dirty="0"/>
              <a:t>Material UI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6"/>
          <p:cNvSpPr txBox="1">
            <a:spLocks noGrp="1"/>
          </p:cNvSpPr>
          <p:nvPr>
            <p:ph type="title"/>
          </p:nvPr>
        </p:nvSpPr>
        <p:spPr>
          <a:xfrm>
            <a:off x="109330" y="0"/>
            <a:ext cx="6367670" cy="839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Problem Statements </a:t>
            </a:r>
            <a:endParaRPr sz="2800" b="1" dirty="0">
              <a:solidFill>
                <a:srgbClr val="0C0C0C"/>
              </a:solidFill>
              <a:latin typeface="Times New Roman"/>
              <a:ea typeface="Times New Roman"/>
              <a:cs typeface="Times New Roman"/>
              <a:sym typeface="Times New Roman"/>
            </a:endParaRPr>
          </a:p>
        </p:txBody>
      </p:sp>
      <p:sp>
        <p:nvSpPr>
          <p:cNvPr id="81" name="Google Shape;81;p6"/>
          <p:cNvSpPr txBox="1">
            <a:spLocks noGrp="1"/>
          </p:cNvSpPr>
          <p:nvPr>
            <p:ph type="body" idx="1"/>
          </p:nvPr>
        </p:nvSpPr>
        <p:spPr>
          <a:xfrm>
            <a:off x="358814" y="1157468"/>
            <a:ext cx="8327986" cy="4970148"/>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360"/>
              </a:spcBef>
              <a:spcAft>
                <a:spcPts val="0"/>
              </a:spcAft>
              <a:buClr>
                <a:schemeClr val="dk1"/>
              </a:buClr>
              <a:buSzPts val="1800"/>
              <a:buNone/>
            </a:pPr>
            <a:endParaRPr sz="2000" b="1" dirty="0"/>
          </a:p>
          <a:p>
            <a:r>
              <a:rPr lang="en-US" sz="2400" dirty="0"/>
              <a:t>With the increasing need for efficient digital management in educational institutions, schools require seamless access to student data, communication tools, and administrative workflows. Many existing systems are proprietary and lack flexibility for customization, experimentation, or academic use. There is a need for a scalable and adaptable school management system that covers core functionalities such as student records, attendance, scheduling, and communication, while allowing developers and institutions to extend features and build a comprehensive, full-stack solution for modern campus management.</a:t>
            </a:r>
          </a:p>
        </p:txBody>
      </p:sp>
      <p:sp>
        <p:nvSpPr>
          <p:cNvPr id="82" name="Google Shape;82;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BA3F9-90D9-BA02-F69A-7CB039F03757}"/>
              </a:ext>
            </a:extLst>
          </p:cNvPr>
          <p:cNvSpPr>
            <a:spLocks noGrp="1"/>
          </p:cNvSpPr>
          <p:nvPr>
            <p:ph type="title"/>
          </p:nvPr>
        </p:nvSpPr>
        <p:spPr/>
        <p:txBody>
          <a:bodyPr/>
          <a:lstStyle/>
          <a:p>
            <a:r>
              <a:rPr lang="en-US" sz="3200" b="1" dirty="0">
                <a:latin typeface="Times New Roman"/>
                <a:ea typeface="Times New Roman"/>
                <a:cs typeface="Times New Roman"/>
                <a:sym typeface="Times New Roman"/>
              </a:rPr>
              <a:t>Future Enhancements</a:t>
            </a:r>
            <a:endParaRPr lang="en-IN" dirty="0"/>
          </a:p>
        </p:txBody>
      </p:sp>
      <p:sp>
        <p:nvSpPr>
          <p:cNvPr id="3" name="Text Placeholder 2">
            <a:extLst>
              <a:ext uri="{FF2B5EF4-FFF2-40B4-BE49-F238E27FC236}">
                <a16:creationId xmlns:a16="http://schemas.microsoft.com/office/drawing/2014/main" id="{43461B21-26CC-8A8A-5B03-EFC1953CB832}"/>
              </a:ext>
            </a:extLst>
          </p:cNvPr>
          <p:cNvSpPr>
            <a:spLocks noGrp="1"/>
          </p:cNvSpPr>
          <p:nvPr>
            <p:ph type="body" idx="1"/>
          </p:nvPr>
        </p:nvSpPr>
        <p:spPr/>
        <p:txBody>
          <a:bodyPr/>
          <a:lstStyle/>
          <a:p>
            <a:r>
              <a:rPr lang="en-US" sz="2400" b="1" dirty="0"/>
              <a:t>Notification Integration</a:t>
            </a:r>
            <a:r>
              <a:rPr lang="en-US" sz="2400" dirty="0"/>
              <a:t> – Send real-time alerts for announcements, attendance updates, and important notices using integrated services. </a:t>
            </a:r>
          </a:p>
          <a:p>
            <a:r>
              <a:rPr lang="en-US" sz="2400" b="1" dirty="0"/>
              <a:t>Role-Based Access Control</a:t>
            </a:r>
            <a:r>
              <a:rPr lang="en-US" sz="2400" dirty="0"/>
              <a:t> – Define different permissions for administrators, teachers, students, and parents. </a:t>
            </a:r>
          </a:p>
          <a:p>
            <a:r>
              <a:rPr lang="en-US" sz="2400" b="1" dirty="0"/>
              <a:t>Communication Features</a:t>
            </a:r>
            <a:r>
              <a:rPr lang="en-US" sz="2400" dirty="0"/>
              <a:t> – Enable interaction through messaging, announcements, and parent-teacher collaboration tools. </a:t>
            </a:r>
          </a:p>
          <a:p>
            <a:r>
              <a:rPr lang="en-US" sz="2400" b="1" dirty="0"/>
              <a:t>Offline Access Support</a:t>
            </a:r>
            <a:r>
              <a:rPr lang="en-US" sz="2400" dirty="0"/>
              <a:t> – Allow users to view essential information like schedules and notices even without an active internet connection. </a:t>
            </a:r>
          </a:p>
        </p:txBody>
      </p:sp>
      <p:sp>
        <p:nvSpPr>
          <p:cNvPr id="4" name="Slide Number Placeholder 3">
            <a:extLst>
              <a:ext uri="{FF2B5EF4-FFF2-40B4-BE49-F238E27FC236}">
                <a16:creationId xmlns:a16="http://schemas.microsoft.com/office/drawing/2014/main" id="{B2040906-5F45-EF62-4068-17B37E3E0E8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extLst>
      <p:ext uri="{BB962C8B-B14F-4D97-AF65-F5344CB8AC3E}">
        <p14:creationId xmlns:p14="http://schemas.microsoft.com/office/powerpoint/2010/main" val="554544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sp>
        <p:nvSpPr>
          <p:cNvPr id="104" name="Google Shape;104;p9"/>
          <p:cNvSpPr txBox="1"/>
          <p:nvPr/>
        </p:nvSpPr>
        <p:spPr>
          <a:xfrm>
            <a:off x="599825" y="2179350"/>
            <a:ext cx="7737900" cy="19548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9600"/>
              <a:buFont typeface="Arial"/>
              <a:buNone/>
            </a:pPr>
            <a:r>
              <a:rPr lang="en-US" sz="11500" b="1" i="0" u="none" strike="noStrike" cap="none">
                <a:solidFill>
                  <a:srgbClr val="D6E3BC"/>
                </a:solidFill>
                <a:latin typeface="Arial"/>
                <a:ea typeface="Arial"/>
                <a:cs typeface="Arial"/>
                <a:sym typeface="Arial"/>
              </a:rPr>
              <a:t> </a:t>
            </a:r>
            <a:endParaRPr sz="1400" b="0" i="0" u="none" strike="noStrike" cap="none">
              <a:solidFill>
                <a:schemeClr val="dk1"/>
              </a:solidFill>
              <a:latin typeface="Arial"/>
              <a:ea typeface="Arial"/>
              <a:cs typeface="Arial"/>
              <a:sym typeface="Arial"/>
            </a:endParaRPr>
          </a:p>
        </p:txBody>
      </p:sp>
      <p:sp>
        <p:nvSpPr>
          <p:cNvPr id="105" name="Google Shape;105;p9"/>
          <p:cNvSpPr/>
          <p:nvPr/>
        </p:nvSpPr>
        <p:spPr>
          <a:xfrm>
            <a:off x="1325045" y="213860"/>
            <a:ext cx="426751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a:solidFill>
                  <a:srgbClr val="000000"/>
                </a:solidFill>
                <a:latin typeface="Times New Roman"/>
                <a:ea typeface="Times New Roman"/>
                <a:cs typeface="Times New Roman"/>
                <a:sym typeface="Times New Roman"/>
              </a:rPr>
              <a:t>Project and Code Snippets</a:t>
            </a:r>
            <a:endParaRPr sz="2800" b="0" i="0" u="none" strike="noStrike" cap="none">
              <a:solidFill>
                <a:srgbClr val="000000"/>
              </a:solidFill>
              <a:latin typeface="Arial"/>
              <a:ea typeface="Arial"/>
              <a:cs typeface="Arial"/>
              <a:sym typeface="Arial"/>
            </a:endParaRPr>
          </a:p>
        </p:txBody>
      </p:sp>
      <p:pic>
        <p:nvPicPr>
          <p:cNvPr id="2" name="Picture 1">
            <a:extLst>
              <a:ext uri="{FF2B5EF4-FFF2-40B4-BE49-F238E27FC236}">
                <a16:creationId xmlns:a16="http://schemas.microsoft.com/office/drawing/2014/main" id="{C7C4280F-DBF6-4AA8-8D6F-CFF6BD6DEAA8}"/>
              </a:ext>
            </a:extLst>
          </p:cNvPr>
          <p:cNvPicPr>
            <a:picLocks noChangeAspect="1"/>
          </p:cNvPicPr>
          <p:nvPr/>
        </p:nvPicPr>
        <p:blipFill>
          <a:blip r:embed="rId3"/>
          <a:stretch>
            <a:fillRect/>
          </a:stretch>
        </p:blipFill>
        <p:spPr>
          <a:xfrm>
            <a:off x="836755" y="1663506"/>
            <a:ext cx="7495493" cy="3581744"/>
          </a:xfrm>
          <a:prstGeom prst="rect">
            <a:avLst/>
          </a:prstGeom>
          <a:ln>
            <a:solidFill>
              <a:schemeClr val="tx1"/>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sp>
        <p:nvSpPr>
          <p:cNvPr id="112" name="Google Shape;112;p10"/>
          <p:cNvSpPr txBox="1"/>
          <p:nvPr/>
        </p:nvSpPr>
        <p:spPr>
          <a:xfrm>
            <a:off x="599825" y="2179350"/>
            <a:ext cx="7737900" cy="19548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9600"/>
              <a:buFont typeface="Arial"/>
              <a:buNone/>
            </a:pPr>
            <a:r>
              <a:rPr lang="en-US" sz="11500" b="1" i="0" u="none" strike="noStrike" cap="none">
                <a:solidFill>
                  <a:srgbClr val="D6E3BC"/>
                </a:solidFill>
                <a:latin typeface="Arial"/>
                <a:ea typeface="Arial"/>
                <a:cs typeface="Arial"/>
                <a:sym typeface="Arial"/>
              </a:rPr>
              <a:t> </a:t>
            </a:r>
            <a:endParaRPr sz="1400" b="0" i="0" u="none" strike="noStrike" cap="none">
              <a:solidFill>
                <a:schemeClr val="dk1"/>
              </a:solidFill>
              <a:latin typeface="Arial"/>
              <a:ea typeface="Arial"/>
              <a:cs typeface="Arial"/>
              <a:sym typeface="Arial"/>
            </a:endParaRPr>
          </a:p>
        </p:txBody>
      </p:sp>
      <p:sp>
        <p:nvSpPr>
          <p:cNvPr id="113" name="Google Shape;113;p10"/>
          <p:cNvSpPr/>
          <p:nvPr/>
        </p:nvSpPr>
        <p:spPr>
          <a:xfrm>
            <a:off x="1325045" y="213860"/>
            <a:ext cx="426751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a:solidFill>
                  <a:srgbClr val="000000"/>
                </a:solidFill>
                <a:latin typeface="Times New Roman"/>
                <a:ea typeface="Times New Roman"/>
                <a:cs typeface="Times New Roman"/>
                <a:sym typeface="Times New Roman"/>
              </a:rPr>
              <a:t>Project and Code Snippets</a:t>
            </a:r>
            <a:endParaRPr sz="2800" b="0" i="0" u="none" strike="noStrike" cap="none">
              <a:solidFill>
                <a:srgbClr val="000000"/>
              </a:solidFill>
              <a:latin typeface="Arial"/>
              <a:ea typeface="Arial"/>
              <a:cs typeface="Arial"/>
              <a:sym typeface="Arial"/>
            </a:endParaRPr>
          </a:p>
        </p:txBody>
      </p:sp>
      <p:pic>
        <p:nvPicPr>
          <p:cNvPr id="2" name="Picture 1">
            <a:extLst>
              <a:ext uri="{FF2B5EF4-FFF2-40B4-BE49-F238E27FC236}">
                <a16:creationId xmlns:a16="http://schemas.microsoft.com/office/drawing/2014/main" id="{EB24AA80-CA8A-4116-9658-864FFB1E6A0B}"/>
              </a:ext>
            </a:extLst>
          </p:cNvPr>
          <p:cNvPicPr>
            <a:picLocks noChangeAspect="1"/>
          </p:cNvPicPr>
          <p:nvPr/>
        </p:nvPicPr>
        <p:blipFill>
          <a:blip r:embed="rId3"/>
          <a:stretch>
            <a:fillRect/>
          </a:stretch>
        </p:blipFill>
        <p:spPr>
          <a:xfrm>
            <a:off x="703049" y="1604122"/>
            <a:ext cx="7737901" cy="3641128"/>
          </a:xfrm>
          <a:prstGeom prst="rect">
            <a:avLst/>
          </a:prstGeom>
          <a:ln>
            <a:solidFill>
              <a:schemeClr val="tx1"/>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sp>
        <p:nvSpPr>
          <p:cNvPr id="120" name="Google Shape;120;p11"/>
          <p:cNvSpPr txBox="1"/>
          <p:nvPr/>
        </p:nvSpPr>
        <p:spPr>
          <a:xfrm>
            <a:off x="599825" y="2179350"/>
            <a:ext cx="7737900" cy="19548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9600"/>
              <a:buFont typeface="Arial"/>
              <a:buNone/>
            </a:pPr>
            <a:r>
              <a:rPr lang="en-US" sz="11500" b="1" i="0" u="none" strike="noStrike" cap="none">
                <a:solidFill>
                  <a:srgbClr val="D6E3BC"/>
                </a:solidFill>
                <a:latin typeface="Arial"/>
                <a:ea typeface="Arial"/>
                <a:cs typeface="Arial"/>
                <a:sym typeface="Arial"/>
              </a:rPr>
              <a:t> </a:t>
            </a:r>
            <a:endParaRPr sz="1400" b="0" i="0" u="none" strike="noStrike" cap="none">
              <a:solidFill>
                <a:schemeClr val="dk1"/>
              </a:solidFill>
              <a:latin typeface="Arial"/>
              <a:ea typeface="Arial"/>
              <a:cs typeface="Arial"/>
              <a:sym typeface="Arial"/>
            </a:endParaRPr>
          </a:p>
        </p:txBody>
      </p:sp>
      <p:sp>
        <p:nvSpPr>
          <p:cNvPr id="121" name="Google Shape;121;p11"/>
          <p:cNvSpPr/>
          <p:nvPr/>
        </p:nvSpPr>
        <p:spPr>
          <a:xfrm>
            <a:off x="1325045" y="213860"/>
            <a:ext cx="426751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a:solidFill>
                  <a:srgbClr val="000000"/>
                </a:solidFill>
                <a:latin typeface="Times New Roman"/>
                <a:ea typeface="Times New Roman"/>
                <a:cs typeface="Times New Roman"/>
                <a:sym typeface="Times New Roman"/>
              </a:rPr>
              <a:t>Project and Code Snippets</a:t>
            </a:r>
            <a:endParaRPr sz="2800" b="0" i="0" u="none" strike="noStrike" cap="none">
              <a:solidFill>
                <a:srgbClr val="000000"/>
              </a:solidFill>
              <a:latin typeface="Arial"/>
              <a:ea typeface="Arial"/>
              <a:cs typeface="Arial"/>
              <a:sym typeface="Arial"/>
            </a:endParaRPr>
          </a:p>
        </p:txBody>
      </p:sp>
      <p:pic>
        <p:nvPicPr>
          <p:cNvPr id="2" name="Picture 1">
            <a:extLst>
              <a:ext uri="{FF2B5EF4-FFF2-40B4-BE49-F238E27FC236}">
                <a16:creationId xmlns:a16="http://schemas.microsoft.com/office/drawing/2014/main" id="{FC5927C2-0EF4-4006-B2D9-EEE49F565BD4}"/>
              </a:ext>
            </a:extLst>
          </p:cNvPr>
          <p:cNvPicPr>
            <a:picLocks noChangeAspect="1"/>
          </p:cNvPicPr>
          <p:nvPr/>
        </p:nvPicPr>
        <p:blipFill>
          <a:blip r:embed="rId3"/>
          <a:stretch>
            <a:fillRect/>
          </a:stretch>
        </p:blipFill>
        <p:spPr>
          <a:xfrm>
            <a:off x="519234" y="1487398"/>
            <a:ext cx="8167566" cy="414124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g38232206ad3_1_0"/>
          <p:cNvSpPr txBox="1">
            <a:spLocks noGrp="1"/>
          </p:cNvSpPr>
          <p:nvPr>
            <p:ph type="body" idx="1"/>
          </p:nvPr>
        </p:nvSpPr>
        <p:spPr>
          <a:xfrm>
            <a:off x="457200" y="1040000"/>
            <a:ext cx="8229600" cy="4526100"/>
          </a:xfrm>
          <a:prstGeom prst="rect">
            <a:avLst/>
          </a:prstGeom>
        </p:spPr>
        <p:txBody>
          <a:bodyPr spcFirstLastPara="1" wrap="square" lIns="91425" tIns="45700" rIns="91425" bIns="45700" anchor="ctr" anchorCtr="0">
            <a:noAutofit/>
          </a:bodyPr>
          <a:lstStyle/>
          <a:p>
            <a:pPr marL="0" lvl="0" indent="0" algn="ctr" rtl="0">
              <a:spcBef>
                <a:spcPts val="360"/>
              </a:spcBef>
              <a:spcAft>
                <a:spcPts val="0"/>
              </a:spcAft>
              <a:buNone/>
            </a:pPr>
            <a:r>
              <a:rPr lang="en-US" sz="10100">
                <a:solidFill>
                  <a:srgbClr val="FF3300"/>
                </a:solidFill>
              </a:rPr>
              <a:t>Thank You</a:t>
            </a:r>
            <a:endParaRPr sz="10100">
              <a:solidFill>
                <a:srgbClr val="FF3300"/>
              </a:solidFill>
            </a:endParaRPr>
          </a:p>
        </p:txBody>
      </p:sp>
      <p:sp>
        <p:nvSpPr>
          <p:cNvPr id="129" name="Google Shape;129;g38232206ad3_1_0"/>
          <p:cNvSpPr txBox="1">
            <a:spLocks noGrp="1"/>
          </p:cNvSpPr>
          <p:nvPr>
            <p:ph type="sldNum" idx="12"/>
          </p:nvPr>
        </p:nvSpPr>
        <p:spPr>
          <a:xfrm>
            <a:off x="6553200" y="635635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TotalTime>
  <Words>451</Words>
  <Application>Microsoft Office PowerPoint</Application>
  <PresentationFormat>On-screen Show (4:3)</PresentationFormat>
  <Paragraphs>68</Paragraphs>
  <Slides>10</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Office Theme</vt:lpstr>
      <vt:lpstr>PowerPoint Presentation</vt:lpstr>
      <vt:lpstr>Introduction</vt:lpstr>
      <vt:lpstr>Features</vt:lpstr>
      <vt:lpstr>Tech Stack</vt:lpstr>
      <vt:lpstr>Problem Statements </vt:lpstr>
      <vt:lpstr>Future Enhancements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Yogesh Goyal</dc:creator>
  <cp:lastModifiedBy>NOOR</cp:lastModifiedBy>
  <cp:revision>17</cp:revision>
  <dcterms:modified xsi:type="dcterms:W3CDTF">2026-03-30T04:30:26Z</dcterms:modified>
</cp:coreProperties>
</file>